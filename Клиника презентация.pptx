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1" r:id="rId2"/>
    <p:sldId id="259" r:id="rId3"/>
    <p:sldId id="261" r:id="rId4"/>
    <p:sldId id="268" r:id="rId5"/>
    <p:sldId id="260" r:id="rId6"/>
    <p:sldId id="265" r:id="rId7"/>
    <p:sldId id="282" r:id="rId8"/>
    <p:sldId id="283" r:id="rId9"/>
    <p:sldId id="284" r:id="rId10"/>
    <p:sldId id="278" r:id="rId11"/>
    <p:sldId id="274" r:id="rId12"/>
    <p:sldId id="279" r:id="rId13"/>
    <p:sldId id="280" r:id="rId14"/>
    <p:sldId id="272" r:id="rId1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54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ru-RU" smtClean="0"/>
              <a:t>Образец заголовка</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1947034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3"/>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44083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206318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F9129B8B-6FFD-430E-B35C-3E2392B5EE96}" type="datetimeFigureOut">
              <a:rPr lang="ru-RU" smtClean="0"/>
              <a:t>13.11.2025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558185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F9129B8B-6FFD-430E-B35C-3E2392B5EE96}" type="datetimeFigureOut">
              <a:rPr lang="ru-RU" smtClean="0"/>
              <a:t>13.11.2025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1460963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7" name="Date Placeholder 2"/>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3"/>
          <p:cNvSpPr>
            <a:spLocks noGrp="1"/>
          </p:cNvSpPr>
          <p:nvPr>
            <p:ph type="ftr" sz="quarter" idx="11"/>
          </p:nvPr>
        </p:nvSpPr>
        <p:spPr/>
        <p:txBody>
          <a:bodyPr/>
          <a:lstStyle/>
          <a:p>
            <a:endParaRPr lang="ru-RU"/>
          </a:p>
        </p:txBody>
      </p:sp>
      <p:sp>
        <p:nvSpPr>
          <p:cNvPr id="6" name="Slide Number Placeholder 4"/>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2403824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2"/>
          <p:cNvSpPr>
            <a:spLocks noGrp="1"/>
          </p:cNvSpPr>
          <p:nvPr>
            <p:ph type="ftr" sz="quarter" idx="11"/>
          </p:nvPr>
        </p:nvSpPr>
        <p:spPr/>
        <p:txBody>
          <a:bodyPr/>
          <a:lstStyle/>
          <a:p>
            <a:endParaRPr lang="ru-RU"/>
          </a:p>
        </p:txBody>
      </p:sp>
      <p:sp>
        <p:nvSpPr>
          <p:cNvPr id="6" name="Slide Number Placeholder 3"/>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346781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7" name="Date Placeholder 4"/>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5"/>
          <p:cNvSpPr>
            <a:spLocks noGrp="1"/>
          </p:cNvSpPr>
          <p:nvPr>
            <p:ph type="ftr" sz="quarter" idx="11"/>
          </p:nvPr>
        </p:nvSpPr>
        <p:spPr/>
        <p:txBody>
          <a:bodyPr/>
          <a:lstStyle/>
          <a:p>
            <a:endParaRPr lang="ru-RU"/>
          </a:p>
        </p:txBody>
      </p:sp>
      <p:sp>
        <p:nvSpPr>
          <p:cNvPr id="6" name="Slide Number Placeholder 6"/>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490850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F9129B8B-6FFD-430E-B35C-3E2392B5EE96}" type="datetimeFigureOut">
              <a:rPr lang="ru-RU" smtClean="0"/>
              <a:t>13.11.2025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3301416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F9129B8B-6FFD-430E-B35C-3E2392B5EE96}" type="datetimeFigureOut">
              <a:rPr lang="ru-RU" smtClean="0"/>
              <a:t>13.11.2025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781327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ru-RU" smtClean="0"/>
              <a:t>Образец заголовка</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4" name="Date Placeholder 3"/>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1179069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ru-RU" smtClean="0"/>
              <a:t>Образец заголовка</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ru-RU" smtClean="0"/>
              <a:t>Образец текста</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4" name="Date Placeholder 3"/>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009D833-1F16-42DA-80AD-8D67883EC9F3}" type="slidenum">
              <a:rPr lang="ru-RU" smtClean="0"/>
              <a:t>‹#›</a:t>
            </a:fld>
            <a:endParaRPr lang="ru-RU"/>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31405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1941182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ru-RU" smtClean="0"/>
              <a:t>Образец заголовка</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9129B8B-6FFD-430E-B35C-3E2392B5EE96}" type="datetimeFigureOut">
              <a:rPr lang="ru-RU" smtClean="0"/>
              <a:t>13.11.2025</a:t>
            </a:fld>
            <a:endParaRPr lang="ru-RU"/>
          </a:p>
        </p:txBody>
      </p:sp>
      <p:sp>
        <p:nvSpPr>
          <p:cNvPr id="4"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3316363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ru-RU" smtClean="0"/>
              <a:t>Образец заголовка</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9129B8B-6FFD-430E-B35C-3E2392B5EE96}" type="datetimeFigureOut">
              <a:rPr lang="ru-RU" smtClean="0"/>
              <a:t>13.11.2025</a:t>
            </a:fld>
            <a:endParaRPr lang="ru-RU"/>
          </a:p>
        </p:txBody>
      </p:sp>
      <p:sp>
        <p:nvSpPr>
          <p:cNvPr id="4"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16832576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nchorCtr="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17826701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F9129B8B-6FFD-430E-B35C-3E2392B5EE96}" type="datetimeFigureOut">
              <a:rPr lang="ru-RU" smtClean="0"/>
              <a:t>13.11.2025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009D833-1F16-42DA-80AD-8D67883EC9F3}" type="slidenum">
              <a:rPr lang="ru-RU" smtClean="0"/>
              <a:t>‹#›</a:t>
            </a:fld>
            <a:endParaRPr lang="ru-RU"/>
          </a:p>
        </p:txBody>
      </p:sp>
    </p:spTree>
    <p:extLst>
      <p:ext uri="{BB962C8B-B14F-4D97-AF65-F5344CB8AC3E}">
        <p14:creationId xmlns:p14="http://schemas.microsoft.com/office/powerpoint/2010/main" val="2772307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ru-RU" smtClean="0"/>
              <a:t>Образец заголовка</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9129B8B-6FFD-430E-B35C-3E2392B5EE96}" type="datetimeFigureOut">
              <a:rPr lang="ru-RU" smtClean="0"/>
              <a:t>13.11.2025</a:t>
            </a:fld>
            <a:endParaRPr lang="ru-RU"/>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ru-RU"/>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009D833-1F16-42DA-80AD-8D67883EC9F3}" type="slidenum">
              <a:rPr lang="ru-RU" smtClean="0"/>
              <a:t>‹#›</a:t>
            </a:fld>
            <a:endParaRPr lang="ru-RU"/>
          </a:p>
        </p:txBody>
      </p:sp>
    </p:spTree>
    <p:extLst>
      <p:ext uri="{BB962C8B-B14F-4D97-AF65-F5344CB8AC3E}">
        <p14:creationId xmlns:p14="http://schemas.microsoft.com/office/powerpoint/2010/main" val="17656154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a:xfrm>
            <a:off x="1393638" y="465418"/>
            <a:ext cx="9404723" cy="1400530"/>
          </a:xfrm>
        </p:spPr>
        <p:txBody>
          <a:bodyPr/>
          <a:lstStyle/>
          <a:p>
            <a:pPr algn="ctr"/>
            <a:r>
              <a:rPr lang="uz-Cyrl-UZ" sz="4000" dirty="0" smtClean="0"/>
              <a:t>Высокоспециализированная многопрофильная частная клиника</a:t>
            </a:r>
            <a:endParaRPr lang="ru-RU" sz="4000" dirty="0"/>
          </a:p>
        </p:txBody>
      </p:sp>
      <p:pic>
        <p:nvPicPr>
          <p:cNvPr id="4" name="Объект 3"/>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2463800" y="2069148"/>
            <a:ext cx="7239000" cy="4065587"/>
          </a:xfrm>
        </p:spPr>
      </p:pic>
    </p:spTree>
    <p:extLst>
      <p:ext uri="{BB962C8B-B14F-4D97-AF65-F5344CB8AC3E}">
        <p14:creationId xmlns:p14="http://schemas.microsoft.com/office/powerpoint/2010/main" val="283486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10364789" cy="1400530"/>
          </a:xfrm>
        </p:spPr>
        <p:txBody>
          <a:bodyPr/>
          <a:lstStyle/>
          <a:p>
            <a:r>
              <a:rPr lang="ru-RU" dirty="0" smtClean="0"/>
              <a:t>Диагностическое подразделение</a:t>
            </a:r>
            <a:endParaRPr lang="ru-RU" dirty="0"/>
          </a:p>
        </p:txBody>
      </p:sp>
      <p:pic>
        <p:nvPicPr>
          <p:cNvPr id="3" name="Рисунок 2"/>
          <p:cNvPicPr>
            <a:picLocks noChangeAspect="1"/>
          </p:cNvPicPr>
          <p:nvPr/>
        </p:nvPicPr>
        <p:blipFill>
          <a:blip r:embed="rId2"/>
          <a:stretch>
            <a:fillRect/>
          </a:stretch>
        </p:blipFill>
        <p:spPr>
          <a:xfrm>
            <a:off x="7806605" y="1210170"/>
            <a:ext cx="3280801" cy="2781104"/>
          </a:xfrm>
          <a:prstGeom prst="rect">
            <a:avLst/>
          </a:prstGeom>
        </p:spPr>
      </p:pic>
      <p:sp>
        <p:nvSpPr>
          <p:cNvPr id="4" name="Объект 3"/>
          <p:cNvSpPr>
            <a:spLocks noGrp="1"/>
          </p:cNvSpPr>
          <p:nvPr>
            <p:ph idx="1"/>
          </p:nvPr>
        </p:nvSpPr>
        <p:spPr>
          <a:xfrm>
            <a:off x="569604" y="1290918"/>
            <a:ext cx="6720195" cy="5002390"/>
          </a:xfrm>
        </p:spPr>
        <p:txBody>
          <a:bodyPr>
            <a:normAutofit lnSpcReduction="10000"/>
          </a:bodyPr>
          <a:lstStyle/>
          <a:p>
            <a:r>
              <a:rPr lang="ru-RU" sz="2400" dirty="0" smtClean="0"/>
              <a:t>- </a:t>
            </a:r>
            <a:r>
              <a:rPr lang="ru-RU" sz="2400" dirty="0"/>
              <a:t>Магнитно-резонансная томография (МРТ) </a:t>
            </a:r>
          </a:p>
          <a:p>
            <a:r>
              <a:rPr lang="ru-RU" sz="2400" dirty="0"/>
              <a:t>- Спиральная компьютерная томография (МСКТ)</a:t>
            </a:r>
          </a:p>
          <a:p>
            <a:r>
              <a:rPr lang="ru-RU" sz="2400" dirty="0"/>
              <a:t>- УЗИ исследования </a:t>
            </a:r>
          </a:p>
          <a:p>
            <a:r>
              <a:rPr lang="ru-RU" sz="2400" dirty="0"/>
              <a:t>- </a:t>
            </a:r>
            <a:r>
              <a:rPr lang="ru-RU" sz="2400" dirty="0" err="1"/>
              <a:t>Гастро-колоноскопия</a:t>
            </a:r>
            <a:endParaRPr lang="ru-RU" sz="2400" dirty="0"/>
          </a:p>
          <a:p>
            <a:r>
              <a:rPr lang="ru-RU" sz="2400" dirty="0"/>
              <a:t>- Лаборатория </a:t>
            </a:r>
          </a:p>
          <a:p>
            <a:pPr marL="0" indent="0">
              <a:buNone/>
            </a:pPr>
            <a:r>
              <a:rPr lang="ru-RU" sz="2400" dirty="0"/>
              <a:t>Учитывая спектр диагностических услуг, диагностический отдел клиники может полноценно осуществлять первичную и специализированную диагностику множества заболеваний.</a:t>
            </a:r>
          </a:p>
          <a:p>
            <a:endParaRPr lang="ru-RU" dirty="0"/>
          </a:p>
        </p:txBody>
      </p:sp>
      <p:pic>
        <p:nvPicPr>
          <p:cNvPr id="5" name="Рисунок 4"/>
          <p:cNvPicPr>
            <a:picLocks noChangeAspect="1"/>
          </p:cNvPicPr>
          <p:nvPr/>
        </p:nvPicPr>
        <p:blipFill>
          <a:blip r:embed="rId3"/>
          <a:stretch>
            <a:fillRect/>
          </a:stretch>
        </p:blipFill>
        <p:spPr>
          <a:xfrm>
            <a:off x="7819305" y="3987800"/>
            <a:ext cx="3280801" cy="2305508"/>
          </a:xfrm>
          <a:prstGeom prst="rect">
            <a:avLst/>
          </a:prstGeom>
        </p:spPr>
      </p:pic>
    </p:spTree>
    <p:extLst>
      <p:ext uri="{BB962C8B-B14F-4D97-AF65-F5344CB8AC3E}">
        <p14:creationId xmlns:p14="http://schemas.microsoft.com/office/powerpoint/2010/main" val="14510197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0311" y="389218"/>
            <a:ext cx="10364789" cy="1400530"/>
          </a:xfrm>
        </p:spPr>
        <p:txBody>
          <a:bodyPr/>
          <a:lstStyle/>
          <a:p>
            <a:r>
              <a:rPr lang="ru-RU" dirty="0"/>
              <a:t>Диагностическое подразделение</a:t>
            </a:r>
            <a:endParaRPr lang="ru-RU" dirty="0"/>
          </a:p>
        </p:txBody>
      </p:sp>
      <p:sp>
        <p:nvSpPr>
          <p:cNvPr id="6" name="Объект 5"/>
          <p:cNvSpPr>
            <a:spLocks noGrp="1"/>
          </p:cNvSpPr>
          <p:nvPr>
            <p:ph idx="1"/>
          </p:nvPr>
        </p:nvSpPr>
        <p:spPr>
          <a:xfrm>
            <a:off x="646111" y="2052918"/>
            <a:ext cx="10415589" cy="4131981"/>
          </a:xfrm>
        </p:spPr>
        <p:txBody>
          <a:bodyPr>
            <a:normAutofit/>
          </a:bodyPr>
          <a:lstStyle/>
          <a:p>
            <a:pPr algn="just"/>
            <a:r>
              <a:rPr lang="ru-RU" dirty="0"/>
              <a:t>- Диагностический отдел клиники </a:t>
            </a:r>
            <a:r>
              <a:rPr lang="ru-RU" dirty="0" smtClean="0"/>
              <a:t>осуществляет </a:t>
            </a:r>
            <a:r>
              <a:rPr lang="ru-RU" dirty="0"/>
              <a:t>«</a:t>
            </a:r>
            <a:r>
              <a:rPr lang="ru-RU" dirty="0" err="1"/>
              <a:t>Check</a:t>
            </a:r>
            <a:r>
              <a:rPr lang="ru-RU" dirty="0"/>
              <a:t> </a:t>
            </a:r>
            <a:r>
              <a:rPr lang="ru-RU" dirty="0" err="1"/>
              <a:t>Up</a:t>
            </a:r>
            <a:r>
              <a:rPr lang="ru-RU" dirty="0"/>
              <a:t>» </a:t>
            </a:r>
            <a:r>
              <a:rPr lang="ru-RU" dirty="0" smtClean="0"/>
              <a:t>обследования </a:t>
            </a:r>
            <a:r>
              <a:rPr lang="ru-RU" dirty="0"/>
              <a:t>желающих пациентов для раннего выявления проблем со здоровьем. Данный метод обследования включает в себя проверку деятельности всех органов и систем на тканевом уровне.</a:t>
            </a:r>
          </a:p>
          <a:p>
            <a:pPr algn="just"/>
            <a:r>
              <a:rPr lang="ru-RU" dirty="0"/>
              <a:t>- Нами приобретаемое МРТ оборудование имеет опцию «функционального сканирования» головного мозга, посредством которого можно определить целостность или повреждение проводящих путей (на обычном МРТ аппарате не видно), что будет давать подсказку нейрохирургам при планировании операции.</a:t>
            </a:r>
          </a:p>
          <a:p>
            <a:pPr algn="just"/>
            <a:r>
              <a:rPr lang="ru-RU" dirty="0"/>
              <a:t>- </a:t>
            </a:r>
            <a:r>
              <a:rPr lang="ru-RU" dirty="0" smtClean="0"/>
              <a:t>МСКТ </a:t>
            </a:r>
            <a:r>
              <a:rPr lang="ru-RU" dirty="0"/>
              <a:t>исследование </a:t>
            </a:r>
            <a:r>
              <a:rPr lang="ru-RU" dirty="0" smtClean="0"/>
              <a:t>проводится всем </a:t>
            </a:r>
            <a:r>
              <a:rPr lang="ru-RU" dirty="0"/>
              <a:t>оперированным больным </a:t>
            </a:r>
            <a:r>
              <a:rPr lang="ru-RU" dirty="0" smtClean="0"/>
              <a:t>для </a:t>
            </a:r>
            <a:r>
              <a:rPr lang="ru-RU" dirty="0"/>
              <a:t>подкрепления доказательной базы качества услуг перед пациентами</a:t>
            </a:r>
          </a:p>
          <a:p>
            <a:endParaRPr lang="ru-RU" dirty="0"/>
          </a:p>
        </p:txBody>
      </p:sp>
    </p:spTree>
    <p:extLst>
      <p:ext uri="{BB962C8B-B14F-4D97-AF65-F5344CB8AC3E}">
        <p14:creationId xmlns:p14="http://schemas.microsoft.com/office/powerpoint/2010/main" val="28179767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7027" y="25396"/>
            <a:ext cx="9721270" cy="939804"/>
          </a:xfrm>
        </p:spPr>
        <p:txBody>
          <a:bodyPr/>
          <a:lstStyle/>
          <a:p>
            <a:r>
              <a:rPr lang="ru-RU" dirty="0" smtClean="0"/>
              <a:t>		Хирургическое </a:t>
            </a:r>
            <a:r>
              <a:rPr lang="ru-RU" dirty="0"/>
              <a:t>подразделение</a:t>
            </a:r>
            <a:endParaRPr lang="ru-RU" dirty="0"/>
          </a:p>
        </p:txBody>
      </p:sp>
      <p:sp>
        <p:nvSpPr>
          <p:cNvPr id="3" name="AutoShape 2" descr="Купить Ангиограф в Ташкенте, Узбекистан, найти цены на Prom.u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Прямоугольник 3"/>
          <p:cNvSpPr/>
          <p:nvPr/>
        </p:nvSpPr>
        <p:spPr>
          <a:xfrm>
            <a:off x="912339" y="2032000"/>
            <a:ext cx="7467600" cy="2677656"/>
          </a:xfrm>
          <a:prstGeom prst="rect">
            <a:avLst/>
          </a:prstGeom>
        </p:spPr>
        <p:txBody>
          <a:bodyPr wrap="square">
            <a:spAutoFit/>
          </a:bodyPr>
          <a:lstStyle/>
          <a:p>
            <a:r>
              <a:rPr lang="ru-RU" sz="2800" dirty="0"/>
              <a:t>- Нейрохирургия</a:t>
            </a:r>
          </a:p>
          <a:p>
            <a:r>
              <a:rPr lang="ru-RU" sz="2800" dirty="0"/>
              <a:t>- Сосудистая хирургия</a:t>
            </a:r>
          </a:p>
          <a:p>
            <a:r>
              <a:rPr lang="ru-RU" sz="2800" dirty="0"/>
              <a:t>- Общая </a:t>
            </a:r>
            <a:r>
              <a:rPr lang="ru-RU" sz="2800" dirty="0" err="1"/>
              <a:t>хиругия</a:t>
            </a:r>
            <a:endParaRPr lang="ru-RU" sz="2800" dirty="0"/>
          </a:p>
          <a:p>
            <a:r>
              <a:rPr lang="ru-RU" sz="2800" dirty="0"/>
              <a:t>- Онкология</a:t>
            </a:r>
          </a:p>
          <a:p>
            <a:r>
              <a:rPr lang="ru-RU" sz="2800" dirty="0"/>
              <a:t>- Коло-проктология</a:t>
            </a:r>
          </a:p>
          <a:p>
            <a:r>
              <a:rPr lang="ru-RU" sz="2800" dirty="0"/>
              <a:t>- Пластическая хирургия</a:t>
            </a:r>
          </a:p>
        </p:txBody>
      </p:sp>
      <p:pic>
        <p:nvPicPr>
          <p:cNvPr id="6" name="Рисунок 5"/>
          <p:cNvPicPr>
            <a:picLocks noChangeAspect="1"/>
          </p:cNvPicPr>
          <p:nvPr/>
        </p:nvPicPr>
        <p:blipFill>
          <a:blip r:embed="rId2"/>
          <a:stretch>
            <a:fillRect/>
          </a:stretch>
        </p:blipFill>
        <p:spPr>
          <a:xfrm>
            <a:off x="5738901" y="1131937"/>
            <a:ext cx="2641038" cy="3730526"/>
          </a:xfrm>
          <a:prstGeom prst="rect">
            <a:avLst/>
          </a:prstGeom>
        </p:spPr>
      </p:pic>
      <p:pic>
        <p:nvPicPr>
          <p:cNvPr id="7" name="Рисунок 6"/>
          <p:cNvPicPr>
            <a:picLocks noChangeAspect="1"/>
          </p:cNvPicPr>
          <p:nvPr/>
        </p:nvPicPr>
        <p:blipFill>
          <a:blip r:embed="rId3"/>
          <a:stretch>
            <a:fillRect/>
          </a:stretch>
        </p:blipFill>
        <p:spPr>
          <a:xfrm>
            <a:off x="8454078" y="2997200"/>
            <a:ext cx="2997885" cy="2997885"/>
          </a:xfrm>
          <a:prstGeom prst="rect">
            <a:avLst/>
          </a:prstGeom>
        </p:spPr>
      </p:pic>
      <p:sp>
        <p:nvSpPr>
          <p:cNvPr id="8" name="Прямоугольник 7"/>
          <p:cNvSpPr/>
          <p:nvPr/>
        </p:nvSpPr>
        <p:spPr>
          <a:xfrm>
            <a:off x="1244600" y="5005933"/>
            <a:ext cx="6794500" cy="1384995"/>
          </a:xfrm>
          <a:prstGeom prst="rect">
            <a:avLst/>
          </a:prstGeom>
        </p:spPr>
        <p:txBody>
          <a:bodyPr wrap="square">
            <a:spAutoFit/>
          </a:bodyPr>
          <a:lstStyle/>
          <a:p>
            <a:pPr algn="just"/>
            <a:r>
              <a:rPr lang="ru-RU" sz="2800" dirty="0"/>
              <a:t>Отдел хирургии </a:t>
            </a:r>
            <a:r>
              <a:rPr lang="ru-RU" sz="2800" dirty="0" smtClean="0"/>
              <a:t>развернут </a:t>
            </a:r>
            <a:r>
              <a:rPr lang="ru-RU" sz="2800" dirty="0"/>
              <a:t>в отделениях на 40 койках и двух операционных блоков</a:t>
            </a:r>
          </a:p>
        </p:txBody>
      </p:sp>
    </p:spTree>
    <p:extLst>
      <p:ext uri="{BB962C8B-B14F-4D97-AF65-F5344CB8AC3E}">
        <p14:creationId xmlns:p14="http://schemas.microsoft.com/office/powerpoint/2010/main" val="33408858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7027" y="355596"/>
            <a:ext cx="9721270" cy="774704"/>
          </a:xfrm>
        </p:spPr>
        <p:txBody>
          <a:bodyPr/>
          <a:lstStyle/>
          <a:p>
            <a:pPr algn="ctr"/>
            <a:r>
              <a:rPr lang="ru-RU" dirty="0"/>
              <a:t>Хирургическое подразделение</a:t>
            </a:r>
            <a:endParaRPr lang="ru-RU" dirty="0"/>
          </a:p>
        </p:txBody>
      </p:sp>
      <p:sp>
        <p:nvSpPr>
          <p:cNvPr id="4" name="Текст 3"/>
          <p:cNvSpPr>
            <a:spLocks noGrp="1"/>
          </p:cNvSpPr>
          <p:nvPr>
            <p:ph type="body" sz="half" idx="2"/>
          </p:nvPr>
        </p:nvSpPr>
        <p:spPr>
          <a:xfrm>
            <a:off x="647700" y="1130300"/>
            <a:ext cx="10515599" cy="2808514"/>
          </a:xfrm>
        </p:spPr>
        <p:txBody>
          <a:bodyPr>
            <a:noAutofit/>
          </a:bodyPr>
          <a:lstStyle/>
          <a:p>
            <a:pPr algn="just"/>
            <a:r>
              <a:rPr lang="ru-RU" sz="2400" dirty="0"/>
              <a:t>- Кроме выполнения всего спектра рутинных нейрохирургических услуг, нами </a:t>
            </a:r>
            <a:r>
              <a:rPr lang="ru-RU" sz="2400" dirty="0" smtClean="0"/>
              <a:t>применяются </a:t>
            </a:r>
            <a:r>
              <a:rPr lang="ru-RU" sz="2400" dirty="0"/>
              <a:t>эндоскопические методы (высокая потребность) операций на позвоночнике.</a:t>
            </a:r>
          </a:p>
          <a:p>
            <a:pPr algn="just"/>
            <a:r>
              <a:rPr lang="ru-RU" sz="2400" dirty="0"/>
              <a:t>- Сосудистая </a:t>
            </a:r>
            <a:r>
              <a:rPr lang="ru-RU" sz="2400" dirty="0" smtClean="0"/>
              <a:t>хирургия </a:t>
            </a:r>
            <a:r>
              <a:rPr lang="ru-RU" sz="2400" dirty="0"/>
              <a:t>акцентирована на применении лазера для наименьшей </a:t>
            </a:r>
            <a:r>
              <a:rPr lang="ru-RU" sz="2400" dirty="0" err="1"/>
              <a:t>травматизации</a:t>
            </a:r>
            <a:r>
              <a:rPr lang="ru-RU" sz="2400" dirty="0"/>
              <a:t> органов и тканей.</a:t>
            </a:r>
          </a:p>
          <a:p>
            <a:pPr algn="just"/>
            <a:r>
              <a:rPr lang="ru-RU" sz="2400" dirty="0"/>
              <a:t>- Кроме всех рутинных операций, выполняемых на внутренних органах, нами </a:t>
            </a:r>
            <a:r>
              <a:rPr lang="ru-RU" sz="2400" dirty="0" err="1" smtClean="0"/>
              <a:t>выполняються</a:t>
            </a:r>
            <a:r>
              <a:rPr lang="ru-RU" sz="2400" dirty="0" smtClean="0"/>
              <a:t> </a:t>
            </a:r>
            <a:r>
              <a:rPr lang="ru-RU" sz="2400" dirty="0"/>
              <a:t>операции по уменьшению желудка, потребность в которой резко растет среди населения. </a:t>
            </a:r>
          </a:p>
          <a:p>
            <a:pPr algn="just"/>
            <a:r>
              <a:rPr lang="ru-RU" sz="2400" dirty="0"/>
              <a:t>- Пластические операции в нашей клинике </a:t>
            </a:r>
            <a:r>
              <a:rPr lang="ru-RU" sz="2400" dirty="0" err="1" smtClean="0"/>
              <a:t>выполняються</a:t>
            </a:r>
            <a:r>
              <a:rPr lang="ru-RU" sz="2400" dirty="0" smtClean="0"/>
              <a:t> </a:t>
            </a:r>
            <a:r>
              <a:rPr lang="ru-RU" sz="2400" dirty="0"/>
              <a:t>с применением специального лазера, с помощью которого результат операции </a:t>
            </a:r>
            <a:r>
              <a:rPr lang="ru-RU" sz="2400" dirty="0" smtClean="0"/>
              <a:t>наиболее качественный.</a:t>
            </a:r>
            <a:endParaRPr lang="ru-RU" sz="2400" dirty="0"/>
          </a:p>
        </p:txBody>
      </p:sp>
    </p:spTree>
    <p:extLst>
      <p:ext uri="{BB962C8B-B14F-4D97-AF65-F5344CB8AC3E}">
        <p14:creationId xmlns:p14="http://schemas.microsoft.com/office/powerpoint/2010/main" val="6111121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85127" y="160338"/>
            <a:ext cx="9721270" cy="939804"/>
          </a:xfrm>
        </p:spPr>
        <p:txBody>
          <a:bodyPr/>
          <a:lstStyle/>
          <a:p>
            <a:pPr algn="ctr"/>
            <a:r>
              <a:rPr lang="ru-RU" b="1" dirty="0"/>
              <a:t>Отдел </a:t>
            </a:r>
            <a:r>
              <a:rPr lang="ru-RU" b="1" dirty="0" smtClean="0"/>
              <a:t>ангиографии</a:t>
            </a:r>
            <a:endParaRPr lang="ru-RU" dirty="0"/>
          </a:p>
        </p:txBody>
      </p:sp>
      <p:sp>
        <p:nvSpPr>
          <p:cNvPr id="4" name="Текст 3"/>
          <p:cNvSpPr>
            <a:spLocks noGrp="1"/>
          </p:cNvSpPr>
          <p:nvPr>
            <p:ph type="body" sz="half" idx="2"/>
          </p:nvPr>
        </p:nvSpPr>
        <p:spPr>
          <a:xfrm>
            <a:off x="460375" y="1572986"/>
            <a:ext cx="5084979" cy="4637314"/>
          </a:xfrm>
        </p:spPr>
        <p:txBody>
          <a:bodyPr>
            <a:normAutofit fontScale="62500" lnSpcReduction="20000"/>
          </a:bodyPr>
          <a:lstStyle/>
          <a:p>
            <a:endParaRPr lang="ru-RU" sz="2400" dirty="0"/>
          </a:p>
          <a:p>
            <a:r>
              <a:rPr lang="ru-RU" sz="2400" dirty="0"/>
              <a:t>- </a:t>
            </a:r>
            <a:r>
              <a:rPr lang="ru-RU" sz="3300" dirty="0" err="1"/>
              <a:t>Коронарография</a:t>
            </a:r>
            <a:endParaRPr lang="ru-RU" sz="3300" dirty="0"/>
          </a:p>
          <a:p>
            <a:r>
              <a:rPr lang="ru-RU" sz="3300" dirty="0"/>
              <a:t>- Установка сердечных </a:t>
            </a:r>
            <a:r>
              <a:rPr lang="ru-RU" sz="3300" dirty="0" err="1"/>
              <a:t>стентов</a:t>
            </a:r>
            <a:endParaRPr lang="ru-RU" sz="3300" dirty="0"/>
          </a:p>
          <a:p>
            <a:r>
              <a:rPr lang="ru-RU" sz="3300" dirty="0"/>
              <a:t>- Баллонная пластика сосудов нижних конечностей</a:t>
            </a:r>
          </a:p>
          <a:p>
            <a:r>
              <a:rPr lang="ru-RU" sz="3300" dirty="0"/>
              <a:t>- </a:t>
            </a:r>
            <a:r>
              <a:rPr lang="ru-RU" sz="3300" dirty="0" err="1"/>
              <a:t>Эмболизация</a:t>
            </a:r>
            <a:r>
              <a:rPr lang="ru-RU" sz="3300" dirty="0"/>
              <a:t> маточных артерий</a:t>
            </a:r>
          </a:p>
          <a:p>
            <a:r>
              <a:rPr lang="ru-RU" sz="3300" dirty="0"/>
              <a:t>- Закрытие питающих сосудов опухоли</a:t>
            </a:r>
          </a:p>
          <a:p>
            <a:r>
              <a:rPr lang="ru-RU" sz="3300" dirty="0"/>
              <a:t>- Химиотерапия</a:t>
            </a:r>
          </a:p>
          <a:p>
            <a:pPr algn="just"/>
            <a:r>
              <a:rPr lang="ru-RU" sz="3300" dirty="0"/>
              <a:t>Ангиография – известный метод внутрисосудистого вмешательства, наиболее чаще применяется при лечении сердечно-сосудистых заболеваний</a:t>
            </a:r>
            <a:r>
              <a:rPr lang="ru-RU" sz="3300" dirty="0" smtClean="0"/>
              <a:t>.</a:t>
            </a:r>
            <a:endParaRPr lang="ru-RU" sz="3300" dirty="0"/>
          </a:p>
        </p:txBody>
      </p:sp>
      <p:sp>
        <p:nvSpPr>
          <p:cNvPr id="3" name="AutoShape 2" descr="Купить Ангиограф в Ташкенте, Узбекистан, найти цены на Prom.u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 name="Рисунок 5"/>
          <p:cNvPicPr>
            <a:picLocks noChangeAspect="1"/>
          </p:cNvPicPr>
          <p:nvPr/>
        </p:nvPicPr>
        <p:blipFill>
          <a:blip r:embed="rId2"/>
          <a:stretch>
            <a:fillRect/>
          </a:stretch>
        </p:blipFill>
        <p:spPr>
          <a:xfrm>
            <a:off x="5803900" y="1439862"/>
            <a:ext cx="5715000" cy="4867275"/>
          </a:xfrm>
          <a:prstGeom prst="rect">
            <a:avLst/>
          </a:prstGeom>
        </p:spPr>
      </p:pic>
    </p:spTree>
    <p:extLst>
      <p:ext uri="{BB962C8B-B14F-4D97-AF65-F5344CB8AC3E}">
        <p14:creationId xmlns:p14="http://schemas.microsoft.com/office/powerpoint/2010/main" val="5102786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05754" y="3543296"/>
            <a:ext cx="9196593" cy="1574808"/>
          </a:xfrm>
        </p:spPr>
        <p:txBody>
          <a:bodyPr>
            <a:normAutofit fontScale="90000"/>
          </a:bodyPr>
          <a:lstStyle/>
          <a:p>
            <a:pPr algn="just"/>
            <a:r>
              <a:rPr lang="ru-RU" dirty="0"/>
              <a:t>Теперь обнаруживая опухолевый процесс в организме </a:t>
            </a:r>
            <a:r>
              <a:rPr lang="ru-RU" dirty="0" smtClean="0"/>
              <a:t>в </a:t>
            </a:r>
            <a:r>
              <a:rPr lang="ru-RU" dirty="0"/>
              <a:t>ряде случаев можно обойтись без открытых </a:t>
            </a:r>
            <a:r>
              <a:rPr lang="ru-RU" dirty="0" smtClean="0"/>
              <a:t>операций, </a:t>
            </a:r>
            <a:r>
              <a:rPr lang="ru-RU" dirty="0"/>
              <a:t>в некоторых случаях достаточно перекрыть питающий опухоль сосуд, после чего опухоль сморщивается. </a:t>
            </a:r>
          </a:p>
        </p:txBody>
      </p:sp>
      <p:sp>
        <p:nvSpPr>
          <p:cNvPr id="4" name="Текст 3"/>
          <p:cNvSpPr>
            <a:spLocks noGrp="1"/>
          </p:cNvSpPr>
          <p:nvPr>
            <p:ph type="body" sz="half" idx="2"/>
          </p:nvPr>
        </p:nvSpPr>
        <p:spPr>
          <a:xfrm>
            <a:off x="2882154" y="190500"/>
            <a:ext cx="6147546" cy="1371600"/>
          </a:xfrm>
        </p:spPr>
        <p:txBody>
          <a:bodyPr>
            <a:noAutofit/>
          </a:bodyPr>
          <a:lstStyle/>
          <a:p>
            <a:r>
              <a:rPr lang="ru-RU" sz="4400" dirty="0"/>
              <a:t>Отдел ангиографии</a:t>
            </a:r>
          </a:p>
        </p:txBody>
      </p:sp>
    </p:spTree>
    <p:extLst>
      <p:ext uri="{BB962C8B-B14F-4D97-AF65-F5344CB8AC3E}">
        <p14:creationId xmlns:p14="http://schemas.microsoft.com/office/powerpoint/2010/main" val="3880606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54954" y="444492"/>
            <a:ext cx="9789260" cy="1104908"/>
          </a:xfrm>
        </p:spPr>
        <p:txBody>
          <a:bodyPr>
            <a:normAutofit fontScale="90000"/>
          </a:bodyPr>
          <a:lstStyle/>
          <a:p>
            <a:pPr algn="ctr"/>
            <a:r>
              <a:rPr lang="ru-RU" dirty="0" smtClean="0"/>
              <a:t>Реанимационный отдел</a:t>
            </a:r>
            <a:r>
              <a:rPr lang="ru-RU" dirty="0"/>
              <a:t/>
            </a:r>
            <a:br>
              <a:rPr lang="ru-RU" dirty="0"/>
            </a:br>
            <a:endParaRPr lang="ru-RU" dirty="0"/>
          </a:p>
        </p:txBody>
      </p:sp>
      <p:sp>
        <p:nvSpPr>
          <p:cNvPr id="4" name="Текст 3"/>
          <p:cNvSpPr>
            <a:spLocks noGrp="1"/>
          </p:cNvSpPr>
          <p:nvPr>
            <p:ph type="body" sz="half" idx="2"/>
          </p:nvPr>
        </p:nvSpPr>
        <p:spPr>
          <a:xfrm>
            <a:off x="304800" y="1714500"/>
            <a:ext cx="6045200" cy="3479800"/>
          </a:xfrm>
        </p:spPr>
        <p:txBody>
          <a:bodyPr>
            <a:noAutofit/>
          </a:bodyPr>
          <a:lstStyle/>
          <a:p>
            <a:pPr algn="just"/>
            <a:r>
              <a:rPr lang="ru-RU" sz="2400" dirty="0" smtClean="0"/>
              <a:t>Реанимация развернута </a:t>
            </a:r>
            <a:r>
              <a:rPr lang="ru-RU" sz="2400" dirty="0"/>
              <a:t>на </a:t>
            </a:r>
            <a:r>
              <a:rPr lang="ru-RU" sz="2400" dirty="0" smtClean="0"/>
              <a:t>7 </a:t>
            </a:r>
            <a:r>
              <a:rPr lang="ru-RU" sz="2400" dirty="0"/>
              <a:t>койках отдельного помещения с </a:t>
            </a:r>
            <a:r>
              <a:rPr lang="ru-RU" sz="2400" dirty="0" smtClean="0"/>
              <a:t>кисло-родным </a:t>
            </a:r>
            <a:r>
              <a:rPr lang="ru-RU" sz="2400" dirty="0"/>
              <a:t>обеспечением всем </a:t>
            </a:r>
            <a:r>
              <a:rPr lang="ru-RU" sz="2400" dirty="0" err="1" smtClean="0"/>
              <a:t>необ-ходимым</a:t>
            </a:r>
            <a:r>
              <a:rPr lang="ru-RU" sz="2400" dirty="0" smtClean="0"/>
              <a:t> </a:t>
            </a:r>
            <a:r>
              <a:rPr lang="ru-RU" sz="2400" dirty="0"/>
              <a:t>оборудованием для </a:t>
            </a:r>
            <a:r>
              <a:rPr lang="ru-RU" sz="2400" dirty="0" smtClean="0"/>
              <a:t>жизнеобеспечения </a:t>
            </a:r>
            <a:r>
              <a:rPr lang="ru-RU" sz="2400" dirty="0"/>
              <a:t>пациентов.  </a:t>
            </a:r>
          </a:p>
          <a:p>
            <a:pPr algn="just"/>
            <a:endParaRPr lang="ru-RU" sz="2400" dirty="0"/>
          </a:p>
        </p:txBody>
      </p:sp>
      <p:pic>
        <p:nvPicPr>
          <p:cNvPr id="5" name="Рисунок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0000" y="1549400"/>
            <a:ext cx="5715000" cy="3810000"/>
          </a:xfrm>
          <a:prstGeom prst="rect">
            <a:avLst/>
          </a:prstGeom>
        </p:spPr>
      </p:pic>
    </p:spTree>
    <p:extLst>
      <p:ext uri="{BB962C8B-B14F-4D97-AF65-F5344CB8AC3E}">
        <p14:creationId xmlns:p14="http://schemas.microsoft.com/office/powerpoint/2010/main" val="2525608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07906" y="165092"/>
            <a:ext cx="8371093" cy="1054108"/>
          </a:xfrm>
        </p:spPr>
        <p:txBody>
          <a:bodyPr/>
          <a:lstStyle/>
          <a:p>
            <a:pPr algn="ctr"/>
            <a:r>
              <a:rPr lang="ru-RU" dirty="0" smtClean="0"/>
              <a:t>Операционный блок</a:t>
            </a:r>
            <a:endParaRPr lang="ru-RU" dirty="0"/>
          </a:p>
        </p:txBody>
      </p:sp>
      <p:sp>
        <p:nvSpPr>
          <p:cNvPr id="4" name="Текст 3"/>
          <p:cNvSpPr>
            <a:spLocks noGrp="1"/>
          </p:cNvSpPr>
          <p:nvPr>
            <p:ph type="body" sz="half" idx="2"/>
          </p:nvPr>
        </p:nvSpPr>
        <p:spPr>
          <a:xfrm>
            <a:off x="7048500" y="2209800"/>
            <a:ext cx="4546601" cy="2476500"/>
          </a:xfrm>
        </p:spPr>
        <p:txBody>
          <a:bodyPr>
            <a:noAutofit/>
          </a:bodyPr>
          <a:lstStyle/>
          <a:p>
            <a:r>
              <a:rPr lang="ru-RU" sz="2000" dirty="0" smtClean="0"/>
              <a:t>Операционный блок состоит из 5 операционных зала с новейшим оборудованием для выполнения современных хирургических вмешательств</a:t>
            </a:r>
            <a:endParaRPr lang="ru-RU" sz="2000" dirty="0"/>
          </a:p>
        </p:txBody>
      </p:sp>
      <p:pic>
        <p:nvPicPr>
          <p:cNvPr id="5" name="Рисунок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2891" y="1600200"/>
            <a:ext cx="6134586" cy="4089400"/>
          </a:xfrm>
          <a:prstGeom prst="rect">
            <a:avLst/>
          </a:prstGeom>
        </p:spPr>
      </p:pic>
    </p:spTree>
    <p:extLst>
      <p:ext uri="{BB962C8B-B14F-4D97-AF65-F5344CB8AC3E}">
        <p14:creationId xmlns:p14="http://schemas.microsoft.com/office/powerpoint/2010/main" val="678999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Grp="1" noChangeAspect="1"/>
          </p:cNvPicPr>
          <p:nvPr>
            <p:ph type="pic" idx="1"/>
          </p:nvPr>
        </p:nvPicPr>
        <p:blipFill>
          <a:blip r:embed="rId2"/>
          <a:srcRect t="2427" b="2427"/>
          <a:stretch>
            <a:fillRect/>
          </a:stretch>
        </p:blipFill>
        <p:spPr>
          <a:xfrm>
            <a:off x="1217407" y="495300"/>
            <a:ext cx="2080260" cy="2971800"/>
          </a:xfrm>
          <a:prstGeom prst="rect">
            <a:avLst/>
          </a:prstGeom>
        </p:spPr>
      </p:pic>
      <p:sp>
        <p:nvSpPr>
          <p:cNvPr id="6" name="Текст 3"/>
          <p:cNvSpPr>
            <a:spLocks noGrp="1"/>
          </p:cNvSpPr>
          <p:nvPr>
            <p:ph type="body" sz="half" idx="2"/>
          </p:nvPr>
        </p:nvSpPr>
        <p:spPr>
          <a:xfrm>
            <a:off x="3873500" y="949325"/>
            <a:ext cx="7213600" cy="1974850"/>
          </a:xfrm>
        </p:spPr>
        <p:txBody>
          <a:bodyPr>
            <a:normAutofit fontScale="92500" lnSpcReduction="20000"/>
          </a:bodyPr>
          <a:lstStyle/>
          <a:p>
            <a:r>
              <a:rPr lang="ru-RU" sz="2000" b="1" dirty="0" smtClean="0"/>
              <a:t>Алимов </a:t>
            </a:r>
            <a:r>
              <a:rPr lang="ru-RU" sz="2000" b="1" dirty="0" err="1" smtClean="0"/>
              <a:t>Ижод</a:t>
            </a:r>
            <a:r>
              <a:rPr lang="ru-RU" sz="2000" b="1" dirty="0" smtClean="0"/>
              <a:t> </a:t>
            </a:r>
            <a:r>
              <a:rPr lang="ru-RU" sz="2000" b="1" dirty="0" smtClean="0"/>
              <a:t>Рустамович</a:t>
            </a:r>
            <a:endParaRPr lang="ru-RU" sz="2000" b="1" dirty="0" smtClean="0"/>
          </a:p>
          <a:p>
            <a:r>
              <a:rPr lang="ru-RU" sz="2000" b="1" dirty="0" smtClean="0"/>
              <a:t>Доктор </a:t>
            </a:r>
            <a:r>
              <a:rPr lang="ru-RU" sz="2000" b="1" dirty="0" smtClean="0"/>
              <a:t>медицинских </a:t>
            </a:r>
            <a:r>
              <a:rPr lang="ru-RU" sz="2000" b="1" dirty="0" smtClean="0"/>
              <a:t>наук</a:t>
            </a:r>
          </a:p>
          <a:p>
            <a:r>
              <a:rPr lang="ru-RU" sz="2000" b="1" dirty="0" smtClean="0"/>
              <a:t>Специалист </a:t>
            </a:r>
            <a:r>
              <a:rPr lang="ru-RU" sz="2000" b="1" dirty="0" smtClean="0"/>
              <a:t>по хирургическому </a:t>
            </a:r>
            <a:r>
              <a:rPr lang="ru-RU" sz="2000" b="1" dirty="0" smtClean="0"/>
              <a:t>лечение онкологических </a:t>
            </a:r>
            <a:r>
              <a:rPr lang="ru-RU" sz="2000" b="1" dirty="0" smtClean="0"/>
              <a:t>заболеваний позвоночника и спинного мозга спинного мозга. </a:t>
            </a:r>
          </a:p>
          <a:p>
            <a:r>
              <a:rPr lang="ru-RU" sz="2000" b="1" dirty="0" smtClean="0"/>
              <a:t>Стаж работы более 15 лет.</a:t>
            </a:r>
            <a:r>
              <a:rPr lang="ru-RU" sz="2000" dirty="0" smtClean="0"/>
              <a:t> </a:t>
            </a:r>
          </a:p>
          <a:p>
            <a:endParaRPr lang="ru-RU" sz="2000" dirty="0"/>
          </a:p>
        </p:txBody>
      </p:sp>
      <p:pic>
        <p:nvPicPr>
          <p:cNvPr id="2" name="Рисунок 1"/>
          <p:cNvPicPr>
            <a:picLocks noChangeAspect="1"/>
          </p:cNvPicPr>
          <p:nvPr/>
        </p:nvPicPr>
        <p:blipFill>
          <a:blip r:embed="rId3"/>
          <a:stretch>
            <a:fillRect/>
          </a:stretch>
        </p:blipFill>
        <p:spPr>
          <a:xfrm>
            <a:off x="1217407" y="3467100"/>
            <a:ext cx="2096281" cy="3142734"/>
          </a:xfrm>
          <a:prstGeom prst="rect">
            <a:avLst/>
          </a:prstGeom>
        </p:spPr>
      </p:pic>
      <p:sp>
        <p:nvSpPr>
          <p:cNvPr id="7" name="Прямоугольник 6"/>
          <p:cNvSpPr/>
          <p:nvPr/>
        </p:nvSpPr>
        <p:spPr>
          <a:xfrm>
            <a:off x="3873500" y="4139336"/>
            <a:ext cx="7213600" cy="1477328"/>
          </a:xfrm>
          <a:prstGeom prst="rect">
            <a:avLst/>
          </a:prstGeom>
        </p:spPr>
        <p:txBody>
          <a:bodyPr wrap="square">
            <a:spAutoFit/>
          </a:bodyPr>
          <a:lstStyle/>
          <a:p>
            <a:r>
              <a:rPr lang="ru-RU" b="1" dirty="0" err="1" smtClean="0"/>
              <a:t>Хамрокулов</a:t>
            </a:r>
            <a:r>
              <a:rPr lang="ru-RU" b="1" dirty="0" smtClean="0"/>
              <a:t> </a:t>
            </a:r>
            <a:r>
              <a:rPr lang="ru-RU" b="1" dirty="0" err="1" smtClean="0"/>
              <a:t>Бекзод</a:t>
            </a:r>
            <a:r>
              <a:rPr lang="ru-RU" b="1" dirty="0" smtClean="0"/>
              <a:t> </a:t>
            </a:r>
            <a:r>
              <a:rPr lang="ru-RU" b="1" dirty="0" err="1" smtClean="0"/>
              <a:t>Баходирович</a:t>
            </a:r>
            <a:endParaRPr lang="ru-RU" b="1" dirty="0"/>
          </a:p>
          <a:p>
            <a:r>
              <a:rPr lang="ru-RU" b="1" dirty="0" smtClean="0"/>
              <a:t>Кандидат </a:t>
            </a:r>
            <a:r>
              <a:rPr lang="ru-RU" b="1" dirty="0"/>
              <a:t>медицинских наук</a:t>
            </a:r>
          </a:p>
          <a:p>
            <a:r>
              <a:rPr lang="ru-RU" b="1" dirty="0"/>
              <a:t>Специалист по хирургическому лечение </a:t>
            </a:r>
            <a:r>
              <a:rPr lang="ru-RU" b="1" dirty="0" smtClean="0"/>
              <a:t>дегенеративных </a:t>
            </a:r>
            <a:r>
              <a:rPr lang="ru-RU" b="1" dirty="0"/>
              <a:t>заболеваний </a:t>
            </a:r>
            <a:r>
              <a:rPr lang="ru-RU" b="1" dirty="0" smtClean="0"/>
              <a:t>позвоночника. </a:t>
            </a:r>
            <a:endParaRPr lang="ru-RU" b="1" dirty="0"/>
          </a:p>
          <a:p>
            <a:r>
              <a:rPr lang="ru-RU" b="1" dirty="0"/>
              <a:t>Стаж работы более 15 лет.</a:t>
            </a:r>
            <a:r>
              <a:rPr lang="ru-RU" dirty="0"/>
              <a:t> </a:t>
            </a:r>
          </a:p>
        </p:txBody>
      </p:sp>
    </p:spTree>
    <p:extLst>
      <p:ext uri="{BB962C8B-B14F-4D97-AF65-F5344CB8AC3E}">
        <p14:creationId xmlns:p14="http://schemas.microsoft.com/office/powerpoint/2010/main" val="3915076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Grp="1" noChangeAspect="1"/>
          </p:cNvPicPr>
          <p:nvPr>
            <p:ph type="pic" idx="1"/>
          </p:nvPr>
        </p:nvPicPr>
        <p:blipFill>
          <a:blip r:embed="rId2"/>
          <a:srcRect l="13443" r="13443"/>
          <a:stretch>
            <a:fillRect/>
          </a:stretch>
        </p:blipFill>
        <p:spPr>
          <a:xfrm>
            <a:off x="1030288" y="558800"/>
            <a:ext cx="2071370" cy="2959100"/>
          </a:xfrm>
          <a:prstGeom prst="rect">
            <a:avLst/>
          </a:prstGeom>
        </p:spPr>
      </p:pic>
      <p:sp>
        <p:nvSpPr>
          <p:cNvPr id="4" name="Текст 3"/>
          <p:cNvSpPr>
            <a:spLocks noGrp="1"/>
          </p:cNvSpPr>
          <p:nvPr>
            <p:ph type="body" sz="half" idx="2"/>
          </p:nvPr>
        </p:nvSpPr>
        <p:spPr>
          <a:xfrm>
            <a:off x="3670300" y="914400"/>
            <a:ext cx="6290733" cy="2857500"/>
          </a:xfrm>
        </p:spPr>
        <p:txBody>
          <a:bodyPr>
            <a:normAutofit/>
          </a:bodyPr>
          <a:lstStyle/>
          <a:p>
            <a:r>
              <a:rPr lang="ru-RU" sz="2000" b="1" dirty="0" smtClean="0"/>
              <a:t>Бурнашев Марсель </a:t>
            </a:r>
            <a:r>
              <a:rPr lang="ru-RU" sz="2000" b="1" dirty="0" err="1" smtClean="0"/>
              <a:t>Ильдарович</a:t>
            </a:r>
            <a:endParaRPr lang="ru-RU" sz="2000" b="1" dirty="0" smtClean="0"/>
          </a:p>
          <a:p>
            <a:r>
              <a:rPr lang="ru-RU" sz="2000" b="1" dirty="0" smtClean="0"/>
              <a:t>Врач высшей категории, нейрохирург, ведущий специалист по хирургическому лечение опухолей головного мозга. </a:t>
            </a:r>
          </a:p>
          <a:p>
            <a:r>
              <a:rPr lang="ru-RU" sz="2000" b="1" dirty="0" smtClean="0"/>
              <a:t>Стаж работы более 30 лет.</a:t>
            </a:r>
            <a:r>
              <a:rPr lang="ru-RU" sz="2000" dirty="0" smtClean="0"/>
              <a:t> </a:t>
            </a:r>
          </a:p>
          <a:p>
            <a:endParaRPr lang="ru-RU" sz="2000" dirty="0"/>
          </a:p>
        </p:txBody>
      </p:sp>
      <p:pic>
        <p:nvPicPr>
          <p:cNvPr id="2" name="Рисунок 1"/>
          <p:cNvPicPr>
            <a:picLocks noChangeAspect="1"/>
          </p:cNvPicPr>
          <p:nvPr/>
        </p:nvPicPr>
        <p:blipFill>
          <a:blip r:embed="rId3"/>
          <a:stretch>
            <a:fillRect/>
          </a:stretch>
        </p:blipFill>
        <p:spPr>
          <a:xfrm>
            <a:off x="1030288" y="3517900"/>
            <a:ext cx="2122740" cy="2998418"/>
          </a:xfrm>
          <a:prstGeom prst="rect">
            <a:avLst/>
          </a:prstGeom>
        </p:spPr>
      </p:pic>
      <p:sp>
        <p:nvSpPr>
          <p:cNvPr id="6" name="Текст 3"/>
          <p:cNvSpPr txBox="1">
            <a:spLocks/>
          </p:cNvSpPr>
          <p:nvPr/>
        </p:nvSpPr>
        <p:spPr>
          <a:xfrm>
            <a:off x="3670300" y="3804259"/>
            <a:ext cx="5322046" cy="2425700"/>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2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0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9pPr>
          </a:lstStyle>
          <a:p>
            <a:r>
              <a:rPr lang="ru-RU" sz="1800" b="1" smtClean="0"/>
              <a:t>Ким Андрей Афонасьевич </a:t>
            </a:r>
          </a:p>
          <a:p>
            <a:r>
              <a:rPr lang="ru-RU" sz="1800" b="1" smtClean="0"/>
              <a:t>Врач высшей категории, нейрохирург, ведущий специалист по хирургическому лечение травм и сосудистых заболеваний головного мозга. </a:t>
            </a:r>
          </a:p>
          <a:p>
            <a:r>
              <a:rPr lang="ru-RU" sz="1800" b="1" smtClean="0"/>
              <a:t>Стаж работы более 25 лет. </a:t>
            </a:r>
          </a:p>
          <a:p>
            <a:endParaRPr lang="ru-RU" dirty="0"/>
          </a:p>
        </p:txBody>
      </p:sp>
    </p:spTree>
    <p:extLst>
      <p:ext uri="{BB962C8B-B14F-4D97-AF65-F5344CB8AC3E}">
        <p14:creationId xmlns:p14="http://schemas.microsoft.com/office/powerpoint/2010/main" val="3494050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Текст 3"/>
          <p:cNvSpPr>
            <a:spLocks noGrp="1"/>
          </p:cNvSpPr>
          <p:nvPr>
            <p:ph type="body" sz="half" idx="2"/>
          </p:nvPr>
        </p:nvSpPr>
        <p:spPr>
          <a:xfrm>
            <a:off x="4114800" y="4000500"/>
            <a:ext cx="6290733" cy="2857500"/>
          </a:xfrm>
        </p:spPr>
        <p:txBody>
          <a:bodyPr>
            <a:normAutofit/>
          </a:bodyPr>
          <a:lstStyle/>
          <a:p>
            <a:r>
              <a:rPr lang="ru-RU" sz="2000" b="1" dirty="0" err="1" smtClean="0"/>
              <a:t>Аллаяров</a:t>
            </a:r>
            <a:r>
              <a:rPr lang="ru-RU" sz="2000" b="1" dirty="0" smtClean="0"/>
              <a:t> Улугбек </a:t>
            </a:r>
            <a:r>
              <a:rPr lang="ru-RU" sz="2000" b="1" dirty="0" err="1" smtClean="0"/>
              <a:t>Джураевич</a:t>
            </a:r>
            <a:endParaRPr lang="ru-RU" sz="2000" b="1" dirty="0" smtClean="0"/>
          </a:p>
          <a:p>
            <a:r>
              <a:rPr lang="ru-RU" sz="2000" b="1" dirty="0" smtClean="0"/>
              <a:t>Кандидат медицинских наук.</a:t>
            </a:r>
          </a:p>
          <a:p>
            <a:r>
              <a:rPr lang="ru-RU" sz="2000" b="1" dirty="0" smtClean="0"/>
              <a:t>Ведущий специалист по </a:t>
            </a:r>
            <a:r>
              <a:rPr lang="ru-RU" sz="2000" b="1" dirty="0" err="1" smtClean="0"/>
              <a:t>лапароскопической</a:t>
            </a:r>
            <a:r>
              <a:rPr lang="ru-RU" sz="2000" b="1" dirty="0" smtClean="0"/>
              <a:t> хирургии. </a:t>
            </a:r>
            <a:endParaRPr lang="ru-RU" sz="2000" b="1" dirty="0" smtClean="0"/>
          </a:p>
          <a:p>
            <a:r>
              <a:rPr lang="ru-RU" sz="2000" b="1" dirty="0" smtClean="0"/>
              <a:t>Стаж работы </a:t>
            </a:r>
            <a:r>
              <a:rPr lang="ru-RU" sz="2000" b="1" dirty="0" smtClean="0"/>
              <a:t>более 25 </a:t>
            </a:r>
            <a:r>
              <a:rPr lang="ru-RU" sz="2000" b="1" dirty="0" smtClean="0"/>
              <a:t>лет.</a:t>
            </a:r>
            <a:r>
              <a:rPr lang="ru-RU" sz="2000" dirty="0" smtClean="0"/>
              <a:t> </a:t>
            </a:r>
          </a:p>
          <a:p>
            <a:endParaRPr lang="ru-RU" sz="2000" dirty="0"/>
          </a:p>
        </p:txBody>
      </p:sp>
      <p:pic>
        <p:nvPicPr>
          <p:cNvPr id="3" name="Рисунок 2"/>
          <p:cNvPicPr>
            <a:picLocks noChangeAspect="1"/>
          </p:cNvPicPr>
          <p:nvPr/>
        </p:nvPicPr>
        <p:blipFill>
          <a:blip r:embed="rId2"/>
          <a:stretch>
            <a:fillRect/>
          </a:stretch>
        </p:blipFill>
        <p:spPr>
          <a:xfrm>
            <a:off x="838200" y="3810000"/>
            <a:ext cx="2540000" cy="2540000"/>
          </a:xfrm>
          <a:prstGeom prst="rect">
            <a:avLst/>
          </a:prstGeom>
        </p:spPr>
      </p:pic>
      <p:pic>
        <p:nvPicPr>
          <p:cNvPr id="7" name="Рисунок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00" y="152400"/>
            <a:ext cx="2540000" cy="3810000"/>
          </a:xfrm>
          <a:prstGeom prst="rect">
            <a:avLst/>
          </a:prstGeom>
        </p:spPr>
      </p:pic>
      <p:sp>
        <p:nvSpPr>
          <p:cNvPr id="12" name="Текст 3"/>
          <p:cNvSpPr txBox="1">
            <a:spLocks/>
          </p:cNvSpPr>
          <p:nvPr/>
        </p:nvSpPr>
        <p:spPr>
          <a:xfrm>
            <a:off x="4114800" y="628650"/>
            <a:ext cx="6290733" cy="2857500"/>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200" b="0"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000" b="0"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900" b="0" i="0" kern="1200">
                <a:solidFill>
                  <a:schemeClr val="tx1"/>
                </a:solidFill>
                <a:latin typeface="+mj-lt"/>
                <a:ea typeface="+mj-ea"/>
                <a:cs typeface="+mj-cs"/>
              </a:defRPr>
            </a:lvl9pPr>
          </a:lstStyle>
          <a:p>
            <a:r>
              <a:rPr lang="ru-RU" sz="2000" b="1" dirty="0" err="1" smtClean="0"/>
              <a:t>Абдужаппаров</a:t>
            </a:r>
            <a:r>
              <a:rPr lang="ru-RU" sz="2000" b="1" dirty="0" smtClean="0"/>
              <a:t> </a:t>
            </a:r>
            <a:r>
              <a:rPr lang="ru-RU" sz="2000" b="1" dirty="0" err="1" smtClean="0"/>
              <a:t>Сулаймон</a:t>
            </a:r>
            <a:r>
              <a:rPr lang="ru-RU" sz="2000" b="1" dirty="0" smtClean="0"/>
              <a:t> </a:t>
            </a:r>
            <a:r>
              <a:rPr lang="ru-RU" sz="2000" b="1" dirty="0" err="1" smtClean="0"/>
              <a:t>Бахриддинович</a:t>
            </a:r>
            <a:endParaRPr lang="ru-RU" sz="2000" b="1" dirty="0" smtClean="0"/>
          </a:p>
          <a:p>
            <a:r>
              <a:rPr lang="ru-RU" sz="2000" b="1" dirty="0" smtClean="0"/>
              <a:t>Доктор медицинских наук, профессор</a:t>
            </a:r>
          </a:p>
          <a:p>
            <a:r>
              <a:rPr lang="ru-RU" sz="2000" b="1" dirty="0" smtClean="0"/>
              <a:t>Ведущий специалист по </a:t>
            </a:r>
            <a:r>
              <a:rPr lang="ru-RU" sz="2000" b="1" dirty="0" err="1" smtClean="0"/>
              <a:t>лапароскопической</a:t>
            </a:r>
            <a:r>
              <a:rPr lang="ru-RU" sz="2000" b="1" dirty="0" smtClean="0"/>
              <a:t> </a:t>
            </a:r>
            <a:r>
              <a:rPr lang="ru-RU" sz="2000" b="1" dirty="0" err="1" smtClean="0"/>
              <a:t>онко</a:t>
            </a:r>
            <a:r>
              <a:rPr lang="ru-RU" sz="2000" b="1" dirty="0" smtClean="0"/>
              <a:t>-хирургии, </a:t>
            </a:r>
            <a:r>
              <a:rPr lang="ru-RU" sz="2000" b="1" dirty="0" err="1" smtClean="0"/>
              <a:t>онкопроктологии</a:t>
            </a:r>
            <a:r>
              <a:rPr lang="ru-RU" sz="2000" b="1" dirty="0" smtClean="0"/>
              <a:t>, онкологии органов брюшной полости и малого таза. </a:t>
            </a:r>
          </a:p>
          <a:p>
            <a:r>
              <a:rPr lang="ru-RU" sz="2000" b="1" dirty="0" smtClean="0"/>
              <a:t>Стаж работы более 30 лет.</a:t>
            </a:r>
            <a:r>
              <a:rPr lang="ru-RU" sz="2000" dirty="0" smtClean="0"/>
              <a:t> </a:t>
            </a:r>
          </a:p>
          <a:p>
            <a:endParaRPr lang="ru-RU" sz="2000" dirty="0"/>
          </a:p>
        </p:txBody>
      </p:sp>
    </p:spTree>
    <p:extLst>
      <p:ext uri="{BB962C8B-B14F-4D97-AF65-F5344CB8AC3E}">
        <p14:creationId xmlns:p14="http://schemas.microsoft.com/office/powerpoint/2010/main" val="2967632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Текст 3"/>
          <p:cNvSpPr>
            <a:spLocks noGrp="1"/>
          </p:cNvSpPr>
          <p:nvPr>
            <p:ph type="body" sz="half" idx="2"/>
          </p:nvPr>
        </p:nvSpPr>
        <p:spPr>
          <a:xfrm>
            <a:off x="5180854" y="2146300"/>
            <a:ext cx="5322046" cy="2425700"/>
          </a:xfrm>
        </p:spPr>
        <p:txBody>
          <a:bodyPr>
            <a:normAutofit/>
          </a:bodyPr>
          <a:lstStyle/>
          <a:p>
            <a:r>
              <a:rPr lang="ru-RU" sz="1800" b="1" dirty="0" err="1" smtClean="0"/>
              <a:t>Муслимов</a:t>
            </a:r>
            <a:r>
              <a:rPr lang="ru-RU" sz="1800" b="1" dirty="0" smtClean="0"/>
              <a:t> Улугбек </a:t>
            </a:r>
            <a:r>
              <a:rPr lang="ru-RU" sz="1800" b="1" dirty="0" err="1" smtClean="0"/>
              <a:t>Якубджанович</a:t>
            </a:r>
            <a:endParaRPr lang="ru-RU" sz="1800" b="1" dirty="0"/>
          </a:p>
          <a:p>
            <a:r>
              <a:rPr lang="ru-RU" sz="1800" b="1" dirty="0" smtClean="0"/>
              <a:t>Ведущий специалист в сфере пластической хирургии.</a:t>
            </a:r>
            <a:endParaRPr lang="ru-RU" sz="1800" b="1" dirty="0"/>
          </a:p>
          <a:p>
            <a:r>
              <a:rPr lang="ru-RU" sz="1800" b="1" dirty="0"/>
              <a:t>Стаж работы более </a:t>
            </a:r>
            <a:r>
              <a:rPr lang="ru-RU" sz="1800" b="1" dirty="0" smtClean="0"/>
              <a:t>15 </a:t>
            </a:r>
            <a:r>
              <a:rPr lang="ru-RU" sz="1800" b="1" dirty="0"/>
              <a:t>лет. </a:t>
            </a:r>
          </a:p>
          <a:p>
            <a:endParaRPr lang="ru-RU" dirty="0"/>
          </a:p>
        </p:txBody>
      </p:sp>
      <p:pic>
        <p:nvPicPr>
          <p:cNvPr id="3" name="Рисунок 2"/>
          <p:cNvPicPr>
            <a:picLocks noChangeAspect="1"/>
          </p:cNvPicPr>
          <p:nvPr/>
        </p:nvPicPr>
        <p:blipFill>
          <a:blip r:embed="rId2"/>
          <a:stretch>
            <a:fillRect/>
          </a:stretch>
        </p:blipFill>
        <p:spPr>
          <a:xfrm>
            <a:off x="1194113" y="1279524"/>
            <a:ext cx="3633787" cy="4037541"/>
          </a:xfrm>
          <a:prstGeom prst="rect">
            <a:avLst/>
          </a:prstGeom>
        </p:spPr>
      </p:pic>
    </p:spTree>
    <p:extLst>
      <p:ext uri="{BB962C8B-B14F-4D97-AF65-F5344CB8AC3E}">
        <p14:creationId xmlns:p14="http://schemas.microsoft.com/office/powerpoint/2010/main" val="1225818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10669589" cy="1400530"/>
          </a:xfrm>
        </p:spPr>
        <p:txBody>
          <a:bodyPr/>
          <a:lstStyle/>
          <a:p>
            <a:pPr algn="ctr"/>
            <a:r>
              <a:rPr lang="en-US" sz="3600" dirty="0" err="1" smtClean="0"/>
              <a:t>NeurON</a:t>
            </a:r>
            <a:r>
              <a:rPr lang="en-US" sz="3600" dirty="0" smtClean="0"/>
              <a:t> Medical Centre</a:t>
            </a:r>
            <a:br>
              <a:rPr lang="en-US" sz="3600" dirty="0" smtClean="0"/>
            </a:br>
            <a:r>
              <a:rPr lang="ru-RU" sz="3600" dirty="0" smtClean="0"/>
              <a:t>Доверьте Ваше здоровье профессионалам</a:t>
            </a:r>
            <a:endParaRPr lang="ru-RU" sz="3600"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36588" y="1678887"/>
            <a:ext cx="7488634" cy="4992423"/>
          </a:xfrm>
        </p:spPr>
      </p:pic>
    </p:spTree>
    <p:extLst>
      <p:ext uri="{BB962C8B-B14F-4D97-AF65-F5344CB8AC3E}">
        <p14:creationId xmlns:p14="http://schemas.microsoft.com/office/powerpoint/2010/main" val="27603456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Ион">
  <a:themeElements>
    <a:clrScheme name="Ион">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Ион">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Ион">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1686</TotalTime>
  <Words>517</Words>
  <Application>Microsoft Office PowerPoint</Application>
  <PresentationFormat>Широкоэкранный</PresentationFormat>
  <Paragraphs>66</Paragraphs>
  <Slides>14</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14</vt:i4>
      </vt:variant>
    </vt:vector>
  </HeadingPairs>
  <TitlesOfParts>
    <vt:vector size="18" baseType="lpstr">
      <vt:lpstr>Arial</vt:lpstr>
      <vt:lpstr>Century Gothic</vt:lpstr>
      <vt:lpstr>Wingdings 3</vt:lpstr>
      <vt:lpstr>Ион</vt:lpstr>
      <vt:lpstr>Высокоспециализированная многопрофильная частная клиника</vt:lpstr>
      <vt:lpstr>Диагностическое подразделение</vt:lpstr>
      <vt:lpstr>Диагностическое подразделение</vt:lpstr>
      <vt:lpstr>  Хирургическое подразделение</vt:lpstr>
      <vt:lpstr>Хирургическое подразделение</vt:lpstr>
      <vt:lpstr>Отдел ангиографии</vt:lpstr>
      <vt:lpstr>Теперь обнаруживая опухолевый процесс в организме в ряде случаев можно обойтись без открытых операций, в некоторых случаях достаточно перекрыть питающий опухоль сосуд, после чего опухоль сморщивается. </vt:lpstr>
      <vt:lpstr>Реанимационный отдел </vt:lpstr>
      <vt:lpstr>Операционный блок</vt:lpstr>
      <vt:lpstr>Презентация PowerPoint</vt:lpstr>
      <vt:lpstr>Презентация PowerPoint</vt:lpstr>
      <vt:lpstr>Презентация PowerPoint</vt:lpstr>
      <vt:lpstr>Презентация PowerPoint</vt:lpstr>
      <vt:lpstr>NeurON Medical Centre Доверьте Ваше здоровье профессионалам</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НейроМед</dc:title>
  <dc:creator>ijod</dc:creator>
  <cp:lastModifiedBy>ijod</cp:lastModifiedBy>
  <cp:revision>38</cp:revision>
  <dcterms:created xsi:type="dcterms:W3CDTF">2023-04-29T15:00:54Z</dcterms:created>
  <dcterms:modified xsi:type="dcterms:W3CDTF">2025-11-13T13:39:29Z</dcterms:modified>
</cp:coreProperties>
</file>